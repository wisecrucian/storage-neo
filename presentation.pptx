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1" i="0" u="none">
                <a:latin typeface="Arial"/>
              </a:rPr>
              <a:t>Разработка распределённого сервиса хранения и аналитики событий антиспам-системы на основе OLTP/OLAP-архитектуры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 u="none">
                <a:latin typeface="Arial"/>
              </a:rPr>
              <a:t>Выпускная квалификационная работа магистра</a:t>
            </a:r>
          </a:p>
          <a:p>
            <a:pPr algn="ctr"/>
          </a:p>
          <a:p>
            <a:pPr algn="ctr"/>
            <a:r>
              <a:rPr sz="1800" b="0" i="0" u="none">
                <a:latin typeface="Arial"/>
              </a:rPr>
              <a:t>ФИО студента</a:t>
            </a:r>
          </a:p>
          <a:p>
            <a:pPr algn="ctr"/>
            <a:r>
              <a:rPr sz="1800" b="0" i="0" u="none">
                <a:latin typeface="Arial"/>
              </a:rPr>
              <a:t>Группа</a:t>
            </a:r>
          </a:p>
          <a:p>
            <a:pPr algn="ctr"/>
            <a:r>
              <a:rPr sz="1800" b="0" i="0" u="none">
                <a:latin typeface="Arial"/>
              </a:rPr>
              <a:t>Научный руководитель</a:t>
            </a:r>
          </a:p>
          <a:p>
            <a:pPr algn="ctr"/>
          </a:p>
          <a:p>
            <a:pPr algn="ctr"/>
            <a:r>
              <a:rPr sz="1800" b="0" i="0" u="none">
                <a:latin typeface="Arial"/>
              </a:rPr>
              <a:t>Декабрь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Самописное хранилище событий антиспам-системы: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u="none">
                <a:latin typeface="Arial"/>
              </a:rPr>
              <a:t>• Интенсивность записи: 50 000 – 100 000 событий/сек</a:t>
            </a:r>
          </a:p>
          <a:p>
            <a:pPr algn="l"/>
            <a:r>
              <a:rPr sz="1600" b="0" i="0" u="none">
                <a:latin typeface="Arial"/>
              </a:rPr>
              <a:t>• Объём данных: ~10 млрд записей</a:t>
            </a:r>
          </a:p>
          <a:p>
            <a:pPr algn="l"/>
            <a:r>
              <a:rPr sz="1600" b="0" i="0" u="none">
                <a:latin typeface="Arial"/>
              </a:rPr>
              <a:t>• Глубина хранения: 7–10 дней</a:t>
            </a:r>
          </a:p>
          <a:p>
            <a:pPr algn="l"/>
            <a:r>
              <a:rPr sz="1600" b="0" i="0" u="none">
                <a:latin typeface="Arial"/>
              </a:rPr>
              <a:t>• Атрибуты события: до 50 (динамическая схема)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Проблемы текущего решения: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u="none">
                <a:solidFill>
                  <a:srgbClr val="C0392B"/>
                </a:solidFill>
                <a:latin typeface="Arial"/>
              </a:rPr>
              <a:t>❌ Высокое потребление вычислительных ресурсов</a:t>
            </a:r>
          </a:p>
          <a:p>
            <a:pPr algn="l"/>
            <a:r>
              <a:rPr sz="1600" b="0" i="0" u="none">
                <a:solidFill>
                  <a:srgbClr val="C0392B"/>
                </a:solidFill>
                <a:latin typeface="Arial"/>
              </a:rPr>
              <a:t>❌ Недостаточная глубина хранения для аналитики</a:t>
            </a:r>
          </a:p>
          <a:p>
            <a:pPr algn="l"/>
            <a:r>
              <a:rPr sz="1600" b="0" i="0" u="none">
                <a:solidFill>
                  <a:srgbClr val="C0392B"/>
                </a:solidFill>
                <a:latin typeface="Arial"/>
              </a:rPr>
              <a:t>❌ Взаимное влияние нагрузок записи и чтения</a:t>
            </a:r>
          </a:p>
          <a:p>
            <a:pPr algn="l"/>
            <a:r>
              <a:rPr sz="1600" b="0" i="0" u="none">
                <a:solidFill>
                  <a:srgbClr val="C0392B"/>
                </a:solidFill>
                <a:latin typeface="Arial"/>
              </a:rPr>
              <a:t>❌ Ограниченная масштабируемость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Цель: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u="none">
                <a:latin typeface="Arial"/>
              </a:rPr>
              <a:t>Разработка распределённого сервиса хранения событий с разделением нагрузки, обеспечивающего длительное хранение и эффективную аналитику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Задачи: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 u="none">
                <a:latin typeface="Arial"/>
              </a:rPr>
              <a:t>1. Анализ существующих решений</a:t>
            </a:r>
          </a:p>
          <a:p>
            <a:pPr algn="l"/>
            <a:r>
              <a:rPr sz="1600" b="0" i="0" u="none">
                <a:latin typeface="Arial"/>
              </a:rPr>
              <a:t>2. Формулировка требований</a:t>
            </a:r>
          </a:p>
          <a:p>
            <a:pPr algn="l"/>
            <a:r>
              <a:rPr sz="1600" b="0" i="0" u="none">
                <a:latin typeface="Arial"/>
              </a:rPr>
              <a:t>3. Сравнительный анализ СУБД</a:t>
            </a:r>
          </a:p>
          <a:p>
            <a:pPr algn="l"/>
            <a:r>
              <a:rPr sz="1600" b="0" i="0" u="none">
                <a:latin typeface="Arial"/>
              </a:rPr>
              <a:t>4. Адаптация бизнес-логики под новое хранилище</a:t>
            </a:r>
          </a:p>
          <a:p>
            <a:pPr algn="l"/>
            <a:r>
              <a:rPr sz="1600" b="0" i="0" u="none">
                <a:latin typeface="Arial"/>
              </a:rPr>
              <a:t>5. Реализация миграции</a:t>
            </a:r>
          </a:p>
          <a:p>
            <a:pPr algn="l"/>
            <a:r>
              <a:rPr sz="1600" b="0" i="0" u="none">
                <a:latin typeface="Arial"/>
              </a:rPr>
              <a:t>6. Экспериментальная оценка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Требования к системе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Функциональные: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/>
              </a:rPr>
              <a:t>• Запись: ≥ 100 000 событий/сек</a:t>
            </a:r>
          </a:p>
          <a:p>
            <a:pPr algn="l"/>
            <a:r>
              <a:rPr sz="1400" b="0" i="0" u="none">
                <a:latin typeface="Arial"/>
              </a:rPr>
              <a:t>• Хранение: ≥ 1 месяц (целевое — 1 год)</a:t>
            </a:r>
          </a:p>
          <a:p>
            <a:pPr algn="l"/>
            <a:r>
              <a:rPr sz="1400" b="0" i="0" u="none">
                <a:latin typeface="Arial"/>
              </a:rPr>
              <a:t>• Динамическая схема: до 50 атрибутов</a:t>
            </a:r>
          </a:p>
          <a:p>
            <a:pPr algn="l"/>
            <a:r>
              <a:rPr sz="1400" b="0" i="0" u="none">
                <a:latin typeface="Arial"/>
              </a:rPr>
              <a:t>• SQL-запросы, агрегации, фильтрация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Нефункциональные: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/>
              </a:rPr>
              <a:t>• Латентность записи: p99 &lt; 100 мс</a:t>
            </a:r>
          </a:p>
          <a:p>
            <a:pPr algn="l"/>
            <a:r>
              <a:rPr sz="1400" b="0" i="0" u="none">
                <a:latin typeface="Arial"/>
              </a:rPr>
              <a:t>• Доступность: 99.9%</a:t>
            </a:r>
          </a:p>
          <a:p>
            <a:pPr algn="l"/>
            <a:r>
              <a:rPr sz="1400" b="0" i="0" u="none">
                <a:latin typeface="Arial"/>
              </a:rPr>
              <a:t>• Отказоустойчивость при выходе ДЦ</a:t>
            </a:r>
          </a:p>
          <a:p>
            <a:pPr algn="l"/>
            <a:r>
              <a:rPr sz="1400" b="0" i="0" u="none">
                <a:latin typeface="Arial"/>
              </a:rPr>
              <a:t>• Репликация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Сравнительный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Проанализировано 7 решений: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00050">
                <a:tc>
                  <a:txBody>
                    <a:bodyPr/>
                    <a:lstStyle/>
                    <a:p>
                      <a:r>
                        <a:rPr sz="1400" b="1"/>
                        <a:t>Решение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Результат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Не справляется с нагрузкой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Elasticsearch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Дорогое хранение (слабое сжатие)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Apache Druid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Не поддерживает динамическую схему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TimescaleDB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9C12"/>
                          </a:solidFill>
                        </a:rPr>
                        <a:t>⚠️ На пределе производительности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Apache Pinot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9C12"/>
                          </a:solidFill>
                        </a:rPr>
                        <a:t>⚠️ Менее зрелое сообщество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/>
                        <a:t>Apache Doris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7AE60"/>
                          </a:solidFill>
                        </a:rPr>
                        <a:t>✅ Подходит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 b="1"/>
                        <a:t>ClickHouse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✅ Оптимальный выбор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Почему ClickHouse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91885">
                <a:tc>
                  <a:txBody>
                    <a:bodyPr/>
                    <a:lstStyle/>
                    <a:p>
                      <a:r>
                        <a:rPr sz="1400" b="1"/>
                        <a:t>Критерий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Значение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/>
                        <a:t>Производительность записи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1-2 млн/сек (запас 10-20x)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/>
                        <a:t>Сжатие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10-40x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/>
                        <a:t>Динамическая схема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Map(String, String)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Полноценный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400"/>
                        <a:t>Репликация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Из коробки, geo-distribution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400"/>
                        <a:t>Сообщество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Зрелое, документация на русском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1" u="none">
                <a:solidFill>
                  <a:srgbClr val="7F8C8D"/>
                </a:solidFill>
                <a:latin typeface="Arial"/>
              </a:rPr>
              <a:t>Почему не Doris: меньше запас по производительности (3x vs 10-20x), менее зрелое сообщество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Планируемые изменения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latin typeface="Courier New"/>
              </a:rPr>
              <a:t>┌─────────────────────┐</a:t>
            </a:r>
          </a:p>
          <a:p>
            <a:pPr algn="l"/>
            <a:r>
              <a:rPr sz="1100" b="0" i="0" u="none">
                <a:latin typeface="Courier New"/>
              </a:rPr>
              <a:t>│   Антиспам-система  │</a:t>
            </a:r>
          </a:p>
          <a:p>
            <a:pPr algn="l"/>
            <a:r>
              <a:rPr sz="1100" b="0" i="0" u="none">
                <a:latin typeface="Courier New"/>
              </a:rPr>
              <a:t>└──────────┬──────────┘</a:t>
            </a:r>
          </a:p>
          <a:p>
            <a:pPr algn="l"/>
            <a:r>
              <a:rPr sz="1100" b="0" i="0" u="none">
                <a:latin typeface="Courier New"/>
              </a:rPr>
              <a:t>           │ события (100K/сек)</a:t>
            </a:r>
          </a:p>
          <a:p>
            <a:pPr algn="l"/>
            <a:r>
              <a:rPr sz="1100" b="0" i="0" u="none">
                <a:latin typeface="Courier New"/>
              </a:rPr>
              <a:t>           ▼</a:t>
            </a:r>
          </a:p>
          <a:p>
            <a:pPr algn="l"/>
            <a:r>
              <a:rPr sz="1100" b="0" i="0" u="none">
                <a:latin typeface="Courier New"/>
              </a:rPr>
              <a:t>┌─────────────────────┐</a:t>
            </a:r>
          </a:p>
          <a:p>
            <a:pPr algn="l"/>
            <a:r>
              <a:rPr sz="1100" b="0" i="0" u="none">
                <a:latin typeface="Courier New"/>
              </a:rPr>
              <a:t>│     Write API       │</a:t>
            </a:r>
          </a:p>
          <a:p>
            <a:pPr algn="l"/>
            <a:r>
              <a:rPr sz="1100" b="0" i="0" u="none">
                <a:latin typeface="Courier New"/>
              </a:rPr>
              <a:t>└──────────┬──────────┘</a:t>
            </a:r>
          </a:p>
          <a:p>
            <a:pPr algn="l"/>
            <a:r>
              <a:rPr sz="1100" b="0" i="0" u="none">
                <a:latin typeface="Courier New"/>
              </a:rPr>
              <a:t>           │</a:t>
            </a:r>
          </a:p>
          <a:p>
            <a:pPr algn="l"/>
            <a:r>
              <a:rPr sz="1100" b="0" i="0" u="none">
                <a:latin typeface="Courier New"/>
              </a:rPr>
              <a:t>           ▼</a:t>
            </a:r>
          </a:p>
          <a:p>
            <a:pPr algn="l"/>
            <a:r>
              <a:rPr sz="1100" b="0" i="0" u="none">
                <a:latin typeface="Courier New"/>
              </a:rPr>
              <a:t>┌─────────────────────┐</a:t>
            </a:r>
          </a:p>
          <a:p>
            <a:pPr algn="l"/>
            <a:r>
              <a:rPr sz="1100" b="0" i="0" u="none">
                <a:latin typeface="Courier New"/>
              </a:rPr>
              <a:t>│    Apache Kafka     │</a:t>
            </a:r>
          </a:p>
          <a:p>
            <a:pPr algn="l"/>
            <a:r>
              <a:rPr sz="1100" b="0" i="0" u="none">
                <a:latin typeface="Courier New"/>
              </a:rPr>
              <a:t>└──────────┬──────────┘</a:t>
            </a:r>
          </a:p>
          <a:p>
            <a:pPr algn="l"/>
            <a:r>
              <a:rPr sz="1100" b="0" i="0" u="none">
                <a:latin typeface="Courier New"/>
              </a:rPr>
              <a:t>           │ batch insert</a:t>
            </a:r>
          </a:p>
          <a:p>
            <a:pPr algn="l"/>
            <a:r>
              <a:rPr sz="1100" b="0" i="0" u="none">
                <a:latin typeface="Courier New"/>
              </a:rPr>
              <a:t>           ▼</a:t>
            </a:r>
          </a:p>
          <a:p>
            <a:pPr algn="l"/>
            <a:r>
              <a:rPr sz="1100" b="0" i="0" u="none">
                <a:latin typeface="Courier New"/>
              </a:rPr>
              <a:t>┌─────────────────────┐</a:t>
            </a:r>
          </a:p>
          <a:p>
            <a:pPr algn="l"/>
            <a:r>
              <a:rPr sz="1100" b="0" i="0" u="none">
                <a:latin typeface="Courier New"/>
              </a:rPr>
              <a:t>│     ClickHouse      │</a:t>
            </a:r>
          </a:p>
          <a:p>
            <a:pPr algn="l"/>
            <a:r>
              <a:rPr sz="1100" b="0" i="0" u="none">
                <a:latin typeface="Courier New"/>
              </a:rPr>
              <a:t>└─────────────────────┘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Что нужно сделать: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/>
              </a:rPr>
              <a:t>• Заменить самописное хранилище на ClickHouse</a:t>
            </a:r>
          </a:p>
          <a:p>
            <a:pPr algn="l"/>
          </a:p>
          <a:p>
            <a:pPr algn="l"/>
            <a:r>
              <a:rPr sz="1400" b="0" i="0" u="none">
                <a:latin typeface="Arial"/>
              </a:rPr>
              <a:t>• Перенести существующую бизнес-логику</a:t>
            </a:r>
          </a:p>
          <a:p>
            <a:pPr algn="l"/>
          </a:p>
          <a:p>
            <a:pPr algn="l"/>
            <a:r>
              <a:rPr sz="1400" b="0" i="0" u="none">
                <a:latin typeface="Arial"/>
              </a:rPr>
              <a:t>• Настроить Kafka для буферизации</a:t>
            </a:r>
          </a:p>
          <a:p>
            <a:pPr algn="l"/>
          </a:p>
          <a:p>
            <a:pPr algn="l"/>
            <a:r>
              <a:rPr sz="1400" b="0" i="0" u="none">
                <a:latin typeface="Arial"/>
              </a:rPr>
              <a:t>• Обеспечить гарантию доставки событий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 u="none">
                <a:solidFill>
                  <a:srgbClr val="1A5276"/>
                </a:solidFill>
                <a:latin typeface="Arial"/>
              </a:rPr>
              <a:t>Итоги и 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Выполнено (ноябрь-декабрь):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27AE60"/>
                </a:solidFill>
                <a:latin typeface="Arial"/>
              </a:rPr>
              <a:t>✅ Анализ требований</a:t>
            </a: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/>
              </a:rPr>
              <a:t>✅ Обзор существующих решений</a:t>
            </a: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/>
              </a:rPr>
              <a:t>✅ Сравнительный анализ (7 СУБД)</a:t>
            </a: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/>
              </a:rPr>
              <a:t>✅ Выбор технологического стека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 i="0" u="none">
                <a:latin typeface="Arial"/>
              </a:rPr>
              <a:t>План на следующий период: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/>
              </a:rPr>
              <a:t>• Адаптация бизнес-логики — Янв-Фев</a:t>
            </a:r>
          </a:p>
          <a:p>
            <a:pPr algn="l"/>
            <a:r>
              <a:rPr sz="1400" b="0" i="0" u="none">
                <a:latin typeface="Arial"/>
              </a:rPr>
              <a:t>• Реализация миграции — Фев-Мар</a:t>
            </a:r>
          </a:p>
          <a:p>
            <a:pPr algn="l"/>
            <a:r>
              <a:rPr sz="1400" b="0" i="0" u="none">
                <a:latin typeface="Arial"/>
              </a:rPr>
              <a:t>• Тестирование — Мар-Апр</a:t>
            </a:r>
          </a:p>
          <a:p>
            <a:pPr algn="l"/>
            <a:r>
              <a:rPr sz="1400" b="0" i="0" u="none">
                <a:latin typeface="Arial"/>
              </a:rPr>
              <a:t>• Экспериментальная оценка — Апр-Май</a:t>
            </a:r>
          </a:p>
          <a:p>
            <a:pPr algn="l"/>
            <a:r>
              <a:rPr sz="1400" b="0" i="0" u="none">
                <a:latin typeface="Arial"/>
              </a:rPr>
              <a:t>• Оформление ВКР — Май-Июн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 u="none">
                <a:solidFill>
                  <a:srgbClr val="1A5276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 u="none">
                <a:latin typeface="Arial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