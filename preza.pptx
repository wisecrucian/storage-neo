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65" r:id="rId3"/>
    <p:sldId id="324" r:id="rId4"/>
    <p:sldId id="284" r:id="rId5"/>
    <p:sldId id="343" r:id="rId6"/>
    <p:sldId id="338" r:id="rId7"/>
    <p:sldId id="347" r:id="rId8"/>
    <p:sldId id="348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Самолетов" initials="С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72" autoAdjust="0"/>
  </p:normalViewPr>
  <p:slideViewPr>
    <p:cSldViewPr snapToGrid="0" snapToObjects="1" showGuides="1">
      <p:cViewPr varScale="1">
        <p:scale>
          <a:sx n="140" d="100"/>
          <a:sy n="140" d="100"/>
        </p:scale>
        <p:origin x="864" y="108"/>
      </p:cViewPr>
      <p:guideLst>
        <p:guide orient="horz" pos="15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2975-4CFD-C441-A244-B7FD9A9579C2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60DC-725D-2A44-9F89-74FE668A9C6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1C8-470D-774F-8B40-381C3059BD4A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711C-DB87-6342-8123-FE7E39EB00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aseline="0"/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0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2000" dirty="0">
              <a:latin typeface="Golos Text" panose="020B0503020202020204"/>
            </a:endParaRPr>
          </a:p>
          <a:p>
            <a:endParaRPr lang="ru-RU" sz="20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8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8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8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8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2400" dirty="0">
              <a:latin typeface="Golos Text" panose="020B0503020202020204"/>
            </a:endParaRPr>
          </a:p>
          <a:p>
            <a:endParaRPr lang="ru-RU" sz="24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20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20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20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20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20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/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1200" dirty="0">
              <a:latin typeface="Golos Text" panose="020B0503020202020204"/>
            </a:endParaRPr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5" name="Текст 7"/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200" dirty="0">
              <a:latin typeface="Golos Text" panose="020B0503020202020204"/>
            </a:endParaRP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  <p:sp>
        <p:nvSpPr>
          <p:cNvPr id="6" name="Текст 13"/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1400" dirty="0">
              <a:latin typeface="Golos Text" panose="020B050302020202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  <a:endParaRPr lang="ru-RU" sz="2000" dirty="0">
              <a:latin typeface="Golos Text" panose="020B0503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1600" dirty="0">
              <a:latin typeface="Golos Text" panose="020B0503020202020204"/>
            </a:endParaRP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/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1200" dirty="0">
              <a:latin typeface="Golos Text" panose="020B0503020202020204"/>
            </a:endParaRPr>
          </a:p>
        </p:txBody>
      </p:sp>
      <p:sp>
        <p:nvSpPr>
          <p:cNvPr id="16" name="Текст 13"/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7"/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200" dirty="0">
              <a:latin typeface="Golos Text" panose="020B0503020202020204"/>
            </a:endParaRP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400" dirty="0">
              <a:latin typeface="Golos Text" panose="020B0503020202020204"/>
            </a:endParaRP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  <a:endParaRPr lang="ru-RU" sz="2000" dirty="0">
              <a:latin typeface="Golos Text" panose="020B050302020202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1600" dirty="0">
              <a:latin typeface="Golos Text" panose="020B0503020202020204"/>
            </a:endParaRP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/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1200" dirty="0">
              <a:latin typeface="Golos Text" panose="020B0503020202020204"/>
            </a:endParaRPr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5" name="Текст 7"/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200" dirty="0">
              <a:latin typeface="Golos Text" panose="020B0503020202020204"/>
            </a:endParaRP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  <p:sp>
        <p:nvSpPr>
          <p:cNvPr id="6" name="Текст 13"/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400" dirty="0">
              <a:latin typeface="Golos Text" panose="020B0503020202020204"/>
            </a:endParaRP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  <a:endParaRPr lang="ru-RU" sz="2000" dirty="0">
              <a:latin typeface="Golos Text" panose="020B0503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Финал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</a:t>
            </a:r>
            <a:endParaRPr lang="ru-RU" sz="1600" dirty="0">
              <a:latin typeface="Golos Text" panose="020B0503020202020204"/>
            </a:endParaRP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6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  <a:endParaRPr lang="ru-RU" sz="16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  <a:endParaRPr lang="ru-RU" sz="16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конец списка.</a:t>
            </a:r>
            <a:endParaRPr lang="ru-RU" sz="16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7"/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1200" dirty="0">
              <a:latin typeface="Golos Text" panose="020B0503020202020204"/>
            </a:endParaRPr>
          </a:p>
        </p:txBody>
      </p:sp>
      <p:sp>
        <p:nvSpPr>
          <p:cNvPr id="5" name="Текст 13"/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6" name="Текст 7"/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200" dirty="0">
              <a:latin typeface="Golos Text" panose="020B0503020202020204"/>
            </a:endParaRP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2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  <p:sp>
        <p:nvSpPr>
          <p:cNvPr id="7" name="Текст 13"/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400" dirty="0">
              <a:latin typeface="Golos Text" panose="020B0503020202020204"/>
            </a:endParaRP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  <a:endParaRPr lang="ru-RU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  <a:endParaRPr lang="ru-RU" sz="1400" dirty="0">
              <a:latin typeface="Golos Text" panose="020B0503020202020204"/>
            </a:endParaRPr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3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/>
          <p:cNvSpPr>
            <a:spLocks noGrp="1"/>
          </p:cNvSpPr>
          <p:nvPr>
            <p:ph type="pic" sz="quarter" idx="14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400" dirty="0">
              <a:latin typeface="Golos Text" panose="020B0503020202020204"/>
            </a:endParaRPr>
          </a:p>
        </p:txBody>
      </p:sp>
      <p:sp>
        <p:nvSpPr>
          <p:cNvPr id="4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400" dirty="0">
              <a:latin typeface="Golos Text" panose="020B0503020202020204"/>
            </a:endParaRPr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  <a:endParaRPr lang="ru-RU" sz="1400" dirty="0">
              <a:latin typeface="Golos Text" panose="020B050302020202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6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6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6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  <a:endParaRPr lang="ru-RU" dirty="0"/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  <a:endParaRPr lang="ru-RU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26" hasCustomPrompt="1"/>
          </p:nvPr>
        </p:nvSpPr>
        <p:spPr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  <a:endParaRPr lang="ru-RU" dirty="0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3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27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2"/>
          <p:cNvSpPr>
            <a:spLocks noGrp="1"/>
          </p:cNvSpPr>
          <p:nvPr>
            <p:ph type="pic" sz="quarter" idx="28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5733143" y="949330"/>
            <a:ext cx="2895600" cy="3895724"/>
          </a:xfrm>
        </p:spPr>
        <p:txBody>
          <a:bodyPr>
            <a:normAutofit/>
          </a:bodyPr>
          <a:lstStyle>
            <a:lvl1pPr marL="0" indent="0">
              <a:buNone/>
              <a:defRPr sz="1400" b="0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Текст</a:t>
            </a:r>
            <a:endParaRPr lang="ru-RU" dirty="0"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3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/>
          <p:cNvSpPr>
            <a:spLocks noGrp="1"/>
          </p:cNvSpPr>
          <p:nvPr>
            <p:ph type="pic" sz="quarter" idx="16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/>
          <p:cNvSpPr>
            <a:spLocks noGrp="1"/>
          </p:cNvSpPr>
          <p:nvPr>
            <p:ph type="pic" sz="quarter" idx="17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8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Ключевая фраза слайда</a:t>
            </a:r>
            <a:endParaRPr lang="ru-RU" dirty="0"/>
          </a:p>
        </p:txBody>
      </p:sp>
      <p:sp>
        <p:nvSpPr>
          <p:cNvPr id="7" name="Рисунок 2"/>
          <p:cNvSpPr>
            <a:spLocks noGrp="1"/>
          </p:cNvSpPr>
          <p:nvPr>
            <p:ph type="pic" sz="quarter" idx="17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/>
          <p:cNvSpPr>
            <a:spLocks noGrp="1"/>
          </p:cNvSpPr>
          <p:nvPr>
            <p:ph type="pic" sz="quarter" idx="18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9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20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21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6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6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6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31" hasCustomPrompt="1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  <a:endParaRPr lang="ru-RU" dirty="0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32" hasCustomPrompt="1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  <a:endParaRPr lang="ru-RU" dirty="0"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33" hasCustomPrompt="1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  <a:endParaRPr lang="ru-RU" dirty="0"/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34" hasCustomPrompt="1"/>
          </p:nvPr>
        </p:nvSpPr>
        <p:spPr>
          <a:xfrm>
            <a:off x="460352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6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35" hasCustomPrompt="1"/>
          </p:nvPr>
        </p:nvSpPr>
        <p:spPr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6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17" name="Text Placeholder 24"/>
          <p:cNvSpPr>
            <a:spLocks noGrp="1"/>
          </p:cNvSpPr>
          <p:nvPr>
            <p:ph type="body" sz="quarter" idx="36" hasCustomPrompt="1"/>
          </p:nvPr>
        </p:nvSpPr>
        <p:spPr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 panose="020B0604020202020204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23" name="Рисунок 2"/>
          <p:cNvSpPr>
            <a:spLocks noGrp="1"/>
          </p:cNvSpPr>
          <p:nvPr>
            <p:ph type="pic" sz="quarter" idx="37" hasCustomPrompt="1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  <a:endParaRPr lang="ru-RU" dirty="0"/>
          </a:p>
        </p:txBody>
      </p:sp>
      <p:sp>
        <p:nvSpPr>
          <p:cNvPr id="24" name="Рисунок 2"/>
          <p:cNvSpPr>
            <a:spLocks noGrp="1"/>
          </p:cNvSpPr>
          <p:nvPr>
            <p:ph type="pic" sz="quarter" idx="38" hasCustomPrompt="1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  <a:endParaRPr lang="ru-RU" dirty="0"/>
          </a:p>
        </p:txBody>
      </p:sp>
      <p:sp>
        <p:nvSpPr>
          <p:cNvPr id="31" name="Рисунок 2"/>
          <p:cNvSpPr>
            <a:spLocks noGrp="1"/>
          </p:cNvSpPr>
          <p:nvPr>
            <p:ph type="pic" sz="quarter" idx="39" hasCustomPrompt="1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3" Type="http://schemas.openxmlformats.org/officeDocument/2006/relationships/theme" Target="../theme/theme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ALS Gorizont Bold Expanded" panose="00000805000000000000" pitchFamily="50" charset="0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-109220" y="2144395"/>
            <a:ext cx="9362440" cy="1645285"/>
          </a:xfrm>
        </p:spPr>
        <p:txBody>
          <a:bodyPr>
            <a:noAutofit/>
          </a:bodyPr>
          <a:lstStyle/>
          <a:p>
            <a:pPr algn="ctr"/>
            <a:r>
              <a:rPr lang="ru-RU" sz="3600" b="0" dirty="0">
                <a:solidFill>
                  <a:schemeClr val="bg1"/>
                </a:solidFill>
                <a:latin typeface="Arial Regular" panose="020B0604020202020204" charset="0"/>
                <a:cs typeface="Arial Regular" panose="020B0604020202020204" charset="0"/>
              </a:rPr>
              <a:t>Проектирование и реализация высоконагруженного событийного хранилища для антиспам-системы</a:t>
            </a:r>
            <a:endParaRPr lang="ru-RU" sz="3600" b="0" dirty="0">
              <a:solidFill>
                <a:schemeClr val="bg1"/>
              </a:solidFill>
              <a:latin typeface="Arial Regular" panose="020B0604020202020204" charset="0"/>
              <a:cs typeface="Arial Regular" panose="020B06040202020202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845685" y="4126230"/>
            <a:ext cx="42983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ru-RU" altLang="en-US">
                <a:solidFill>
                  <a:schemeClr val="bg1"/>
                </a:solidFill>
              </a:rPr>
              <a:t>Студент</a:t>
            </a:r>
            <a:r>
              <a:rPr lang="en-US">
                <a:solidFill>
                  <a:schemeClr val="bg1"/>
                </a:solidFill>
              </a:rPr>
              <a:t>: </a:t>
            </a:r>
            <a:r>
              <a:rPr lang="ru-RU" altLang="en-US">
                <a:solidFill>
                  <a:schemeClr val="bg1"/>
                </a:solidFill>
              </a:rPr>
              <a:t>Полянский М.В.</a:t>
            </a:r>
            <a:endParaRPr lang="ru-RU" altLang="en-US">
              <a:solidFill>
                <a:schemeClr val="bg1"/>
              </a:solidFill>
            </a:endParaRPr>
          </a:p>
          <a:p>
            <a:pPr algn="l"/>
            <a:r>
              <a:rPr lang="ru-RU" altLang="en-US">
                <a:solidFill>
                  <a:schemeClr val="bg1"/>
                </a:solidFill>
              </a:rPr>
              <a:t>Научный руководитель: Ицыксон В.М.</a:t>
            </a:r>
            <a:endParaRPr lang="ru-RU" altLang="en-US">
              <a:solidFill>
                <a:schemeClr val="bg1"/>
              </a:solidFill>
            </a:endParaRPr>
          </a:p>
          <a:p>
            <a:pPr algn="l"/>
            <a:r>
              <a:rPr lang="ru-RU" altLang="en-US">
                <a:solidFill>
                  <a:schemeClr val="bg1"/>
                </a:solidFill>
              </a:rPr>
              <a:t>Научный консультант</a:t>
            </a:r>
            <a:r>
              <a:rPr lang="en-US">
                <a:solidFill>
                  <a:schemeClr val="bg1"/>
                </a:solidFill>
              </a:rPr>
              <a:t>: Морева Е.</a:t>
            </a:r>
            <a:r>
              <a:rPr lang="ru-RU" altLang="en-US">
                <a:solidFill>
                  <a:schemeClr val="bg1"/>
                </a:solidFill>
              </a:rPr>
              <a:t>И.</a:t>
            </a:r>
            <a:endParaRPr lang="ru-RU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1"/>
          </p:nvPr>
        </p:nvSpPr>
        <p:spPr>
          <a:xfrm>
            <a:off x="834298" y="1458505"/>
            <a:ext cx="7170057" cy="3410856"/>
          </a:xfrm>
        </p:spPr>
        <p:txBody>
          <a:bodyPr/>
          <a:lstStyle/>
          <a:p>
            <a:pPr algn="l"/>
            <a:r>
              <a:rPr>
                <a:latin typeface="Arial" panose="020B0604020202020204"/>
                <a:sym typeface="+mn-ea"/>
              </a:rPr>
              <a:t>• Интенсивность записи: 50 000 – 100 000 событий/сек</a:t>
            </a:r>
            <a:endParaRPr b="0" i="0" u="none">
              <a:latin typeface="Arial" panose="020B0604020202020204"/>
            </a:endParaRPr>
          </a:p>
          <a:p>
            <a:pPr algn="l"/>
            <a:r>
              <a:rPr>
                <a:latin typeface="Arial" panose="020B0604020202020204"/>
                <a:sym typeface="+mn-ea"/>
              </a:rPr>
              <a:t>• Объём данных: ~10 млрд записей</a:t>
            </a:r>
            <a:endParaRPr b="0" i="0" u="none">
              <a:latin typeface="Arial" panose="020B0604020202020204"/>
            </a:endParaRPr>
          </a:p>
          <a:p>
            <a:pPr algn="l"/>
            <a:r>
              <a:rPr>
                <a:latin typeface="Arial" panose="020B0604020202020204"/>
                <a:sym typeface="+mn-ea"/>
              </a:rPr>
              <a:t>• Глубина хранения: 7–10 дней</a:t>
            </a:r>
            <a:endParaRPr b="0" i="0" u="none">
              <a:latin typeface="Arial" panose="020B0604020202020204"/>
            </a:endParaRPr>
          </a:p>
          <a:p>
            <a:pPr algn="l"/>
            <a:r>
              <a:rPr>
                <a:latin typeface="Arial" panose="020B0604020202020204"/>
                <a:sym typeface="+mn-ea"/>
              </a:rPr>
              <a:t>• Атрибуты события: до 50 (динамическая схема)</a:t>
            </a:r>
            <a:endParaRPr lang="ru-RU">
              <a:latin typeface="Arial" panose="020B0604020202020204"/>
              <a:cs typeface="Arial Regular" panose="020B0604020202020204" charset="0"/>
              <a:sym typeface="+mn-ea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63550" y="300085"/>
            <a:ext cx="6824382" cy="527284"/>
          </a:xfrm>
        </p:spPr>
        <p:txBody>
          <a:bodyPr>
            <a:normAutofit fontScale="90000"/>
          </a:bodyPr>
          <a:lstStyle/>
          <a:p>
            <a:r>
              <a:rPr lang="ru-RU" b="0">
                <a:latin typeface="Arial Regular" panose="020B0604020202020204" charset="0"/>
                <a:cs typeface="Arial Regular" panose="020B0604020202020204" charset="0"/>
              </a:rPr>
              <a:t>Проблема</a:t>
            </a:r>
            <a:endParaRPr lang="ru-RU" b="0">
              <a:latin typeface="Arial Regular" panose="020B0604020202020204" charset="0"/>
              <a:cs typeface="Arial Regular" panose="020B06040202020202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170545" y="4276090"/>
            <a:ext cx="513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ru-RU" altLang="en-US"/>
              <a:t>2/7</a:t>
            </a:r>
            <a:endParaRPr lang="ru-RU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624205" y="1090295"/>
            <a:ext cx="483489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ru-RU" b="1">
                <a:latin typeface="Arial" panose="020B0604020202020204"/>
                <a:sym typeface="+mn-ea"/>
              </a:rPr>
              <a:t>Х</a:t>
            </a:r>
            <a:r>
              <a:rPr b="1">
                <a:latin typeface="Arial" panose="020B0604020202020204"/>
                <a:sym typeface="+mn-ea"/>
              </a:rPr>
              <a:t>ранилище событий антиспам-системы:</a:t>
            </a:r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624205" y="2769235"/>
            <a:ext cx="363791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b="1">
                <a:latin typeface="Arial" panose="020B0604020202020204"/>
                <a:sym typeface="+mn-ea"/>
              </a:rPr>
              <a:t>Проблемы текущего решения:</a:t>
            </a:r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834390" y="3251835"/>
            <a:ext cx="529717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sz="1600">
                <a:solidFill>
                  <a:srgbClr val="C0392B"/>
                </a:solidFill>
                <a:latin typeface="Arial" panose="020B0604020202020204"/>
                <a:sym typeface="+mn-ea"/>
              </a:rPr>
              <a:t>❌ Высокое потребление вычислительных ресурсов</a:t>
            </a:r>
            <a:endParaRPr sz="1600" b="0" i="0" u="none">
              <a:solidFill>
                <a:srgbClr val="C0392B"/>
              </a:solidFill>
              <a:latin typeface="Arial" panose="020B0604020202020204"/>
            </a:endParaRPr>
          </a:p>
          <a:p>
            <a:pPr algn="l"/>
            <a:r>
              <a:rPr sz="1600">
                <a:solidFill>
                  <a:srgbClr val="C0392B"/>
                </a:solidFill>
                <a:latin typeface="Arial" panose="020B0604020202020204"/>
                <a:sym typeface="+mn-ea"/>
              </a:rPr>
              <a:t>❌ Недостаточная глубина хранения для аналитики</a:t>
            </a:r>
            <a:endParaRPr sz="1600" b="0" i="0" u="none">
              <a:solidFill>
                <a:srgbClr val="C0392B"/>
              </a:solidFill>
              <a:latin typeface="Arial" panose="020B0604020202020204"/>
            </a:endParaRPr>
          </a:p>
          <a:p>
            <a:pPr algn="l"/>
            <a:r>
              <a:rPr sz="1600">
                <a:solidFill>
                  <a:srgbClr val="C0392B"/>
                </a:solidFill>
                <a:latin typeface="Arial" panose="020B0604020202020204"/>
                <a:sym typeface="+mn-ea"/>
              </a:rPr>
              <a:t>❌ Взаимное влияние нагрузок записи и чтения</a:t>
            </a:r>
            <a:endParaRPr sz="1600" b="0" i="0" u="none">
              <a:solidFill>
                <a:srgbClr val="C0392B"/>
              </a:solidFill>
              <a:latin typeface="Arial" panose="020B0604020202020204"/>
            </a:endParaRPr>
          </a:p>
          <a:p>
            <a:pPr algn="l"/>
            <a:r>
              <a:rPr sz="1600">
                <a:solidFill>
                  <a:srgbClr val="C0392B"/>
                </a:solidFill>
                <a:latin typeface="Arial" panose="020B0604020202020204"/>
                <a:sym typeface="+mn-ea"/>
              </a:rPr>
              <a:t>❌ Ограниченная масштабируемость</a:t>
            </a:r>
            <a:endParaRPr lang="en-US" sz="1600">
              <a:solidFill>
                <a:srgbClr val="C0392B"/>
              </a:solidFill>
              <a:latin typeface="Arial" panose="020B0604020202020204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>
            <a:normAutofit fontScale="90000"/>
          </a:bodyPr>
          <a:lstStyle/>
          <a:p>
            <a:r>
              <a:rPr lang="ru-RU" b="0" dirty="0">
                <a:latin typeface="Arial Regular" panose="020B0604020202020204" charset="0"/>
                <a:cs typeface="Arial Regular" panose="020B0604020202020204" charset="0"/>
              </a:rPr>
              <a:t>Цель и задачи</a:t>
            </a:r>
            <a:endParaRPr lang="ru-RU" b="0" dirty="0">
              <a:latin typeface="Arial Regular" panose="020B0604020202020204" charset="0"/>
              <a:cs typeface="Arial Regular" panose="020B060402020202020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47065" y="1440815"/>
            <a:ext cx="7455535" cy="816610"/>
          </a:xfrm>
        </p:spPr>
        <p:txBody>
          <a:bodyPr>
            <a:normAutofit lnSpcReduction="20000"/>
          </a:bodyPr>
          <a:lstStyle/>
          <a:p>
            <a:pPr algn="l"/>
            <a:r>
              <a:rPr sz="1600">
                <a:latin typeface="Arial" panose="020B0604020202020204"/>
                <a:sym typeface="+mn-ea"/>
              </a:rPr>
              <a:t>Разработка распределённого сервиса хранения событий с разделением нагрузки, обеспечивающего длительное хранение и эффективную аналитику</a:t>
            </a:r>
            <a:endParaRPr lang="ru-RU" sz="1600" b="0" i="0" dirty="0">
              <a:solidFill>
                <a:srgbClr val="2C2D2E"/>
              </a:solidFill>
              <a:effectLst/>
              <a:latin typeface="Arial Regular" panose="020B0604020202020204" charset="0"/>
              <a:cs typeface="Arial Regular" panose="020B06040202020202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8174990" y="4346575"/>
            <a:ext cx="5130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ru-RU" altLang="en-US">
                <a:sym typeface="+mn-ea"/>
              </a:rPr>
              <a:t>3/7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568960" y="1072515"/>
            <a:ext cx="83883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b="1">
                <a:latin typeface="Arial" panose="020B0604020202020204"/>
                <a:sym typeface="+mn-ea"/>
              </a:rPr>
              <a:t>Цель:</a:t>
            </a:r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647065" y="2684780"/>
            <a:ext cx="503110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sz="1600">
                <a:latin typeface="Arial" panose="020B0604020202020204"/>
                <a:sym typeface="+mn-ea"/>
              </a:rPr>
              <a:t>1. </a:t>
            </a:r>
            <a:r>
              <a:rPr sz="1600">
                <a:latin typeface="Arial" panose="020B0604020202020204"/>
                <a:sym typeface="+mn-ea"/>
              </a:rPr>
              <a:t>Формулировка требований</a:t>
            </a:r>
            <a:r>
              <a:rPr lang="ru-RU" sz="1600">
                <a:latin typeface="Arial" panose="020B0604020202020204"/>
                <a:sym typeface="+mn-ea"/>
              </a:rPr>
              <a:t> к хранилищу</a:t>
            </a:r>
            <a:endParaRPr sz="1600">
              <a:latin typeface="Arial" panose="020B0604020202020204"/>
              <a:sym typeface="+mn-ea"/>
            </a:endParaRPr>
          </a:p>
          <a:p>
            <a:pPr algn="l"/>
            <a:r>
              <a:rPr sz="1600">
                <a:latin typeface="Arial" panose="020B0604020202020204"/>
                <a:sym typeface="+mn-ea"/>
              </a:rPr>
              <a:t>2.</a:t>
            </a:r>
            <a:r>
              <a:rPr lang="ru-RU" sz="1600">
                <a:latin typeface="Arial" panose="020B0604020202020204"/>
                <a:sym typeface="+mn-ea"/>
              </a:rPr>
              <a:t> </a:t>
            </a:r>
            <a:r>
              <a:rPr sz="1600">
                <a:latin typeface="Arial" panose="020B0604020202020204"/>
                <a:sym typeface="+mn-ea"/>
              </a:rPr>
              <a:t>Анализ существующих решений</a:t>
            </a:r>
            <a:r>
              <a:rPr sz="1600">
                <a:latin typeface="Arial" panose="020B0604020202020204"/>
                <a:sym typeface="+mn-ea"/>
              </a:rPr>
              <a:t> </a:t>
            </a:r>
            <a:endParaRPr sz="1600" b="0" i="0" u="none">
              <a:latin typeface="Arial" panose="020B0604020202020204"/>
            </a:endParaRPr>
          </a:p>
          <a:p>
            <a:pPr algn="l"/>
            <a:r>
              <a:rPr sz="1600">
                <a:latin typeface="Arial" panose="020B0604020202020204"/>
                <a:sym typeface="+mn-ea"/>
              </a:rPr>
              <a:t>3. Сравнительный анализ СУБД</a:t>
            </a:r>
            <a:endParaRPr sz="1600" b="0" i="0" u="none">
              <a:latin typeface="Arial" panose="020B0604020202020204"/>
            </a:endParaRPr>
          </a:p>
          <a:p>
            <a:pPr algn="l"/>
            <a:r>
              <a:rPr sz="1600">
                <a:latin typeface="Arial" panose="020B0604020202020204"/>
                <a:sym typeface="+mn-ea"/>
              </a:rPr>
              <a:t>4. Адаптация бизнес-логики под новое</a:t>
            </a:r>
            <a:r>
              <a:rPr lang="ru-RU" sz="1600">
                <a:latin typeface="Arial" panose="020B0604020202020204"/>
                <a:sym typeface="+mn-ea"/>
              </a:rPr>
              <a:t> </a:t>
            </a:r>
            <a:r>
              <a:rPr sz="1600">
                <a:latin typeface="Arial" panose="020B0604020202020204"/>
                <a:sym typeface="+mn-ea"/>
              </a:rPr>
              <a:t>хранилище</a:t>
            </a:r>
            <a:endParaRPr sz="1600" b="0" i="0" u="none">
              <a:latin typeface="Arial" panose="020B0604020202020204"/>
            </a:endParaRPr>
          </a:p>
          <a:p>
            <a:pPr algn="l"/>
            <a:r>
              <a:rPr sz="1600">
                <a:latin typeface="Arial" panose="020B0604020202020204"/>
                <a:sym typeface="+mn-ea"/>
              </a:rPr>
              <a:t>5. Реализация </a:t>
            </a:r>
            <a:r>
              <a:rPr lang="ru-RU" sz="1600">
                <a:latin typeface="Arial" panose="020B0604020202020204"/>
                <a:sym typeface="+mn-ea"/>
              </a:rPr>
              <a:t>прототипа</a:t>
            </a:r>
            <a:endParaRPr sz="1600" b="0" i="0" u="none">
              <a:latin typeface="Arial" panose="020B0604020202020204"/>
            </a:endParaRPr>
          </a:p>
          <a:p>
            <a:pPr algn="l"/>
            <a:r>
              <a:rPr sz="1600">
                <a:latin typeface="Arial" panose="020B0604020202020204"/>
                <a:sym typeface="+mn-ea"/>
              </a:rPr>
              <a:t>6. Эксперименталь</a:t>
            </a:r>
            <a:r>
              <a:rPr lang="ru-RU" sz="1600">
                <a:latin typeface="Arial" panose="020B0604020202020204"/>
                <a:sym typeface="+mn-ea"/>
              </a:rPr>
              <a:t>ное исследование</a:t>
            </a:r>
            <a:endParaRPr lang="ru-RU" sz="1600">
              <a:latin typeface="Arial" panose="020B0604020202020204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47065" y="2257425"/>
            <a:ext cx="106870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ru-RU" altLang="en-US" b="1"/>
              <a:t>Задачи:</a:t>
            </a:r>
            <a:endParaRPr lang="ru-RU" altLang="en-US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1"/>
          </p:nvPr>
        </p:nvSpPr>
        <p:spPr>
          <a:xfrm flipH="1" flipV="1">
            <a:off x="-2552065" y="5387975"/>
            <a:ext cx="1697355" cy="182245"/>
          </a:xfrm>
        </p:spPr>
        <p:txBody>
          <a:bodyPr>
            <a:noAutofit/>
          </a:bodyPr>
          <a:lstStyle/>
          <a:p>
            <a:pPr algn="l">
              <a:buFont typeface="Arial" panose="020B0604020202020204" pitchFamily="34" charset="0"/>
            </a:pPr>
            <a:endParaRPr lang="ru-RU">
              <a:solidFill>
                <a:schemeClr val="tx2"/>
              </a:solidFill>
              <a:latin typeface="Arial" panose="020B0604020202020204"/>
              <a:cs typeface="Arial" panose="020B0604020202020204" pitchFamily="34" charset="0"/>
              <a:sym typeface="+mn-ea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en-US" b="0">
                <a:latin typeface="Arial Regular" panose="020B0604020202020204" charset="0"/>
                <a:cs typeface="Arial Regular" panose="020B0604020202020204" charset="0"/>
              </a:rPr>
              <a:t>Требования к системе</a:t>
            </a:r>
            <a:endParaRPr lang="ru-RU" altLang="en-US" b="0">
              <a:latin typeface="Arial Regular" panose="020B0604020202020204" charset="0"/>
              <a:cs typeface="Arial Regular" panose="020B06040202020202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211185" y="4375150"/>
            <a:ext cx="5130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ru-RU" altLang="en-US">
                <a:sym typeface="+mn-ea"/>
              </a:rPr>
              <a:t>4/7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08000" y="1294765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algn="l"/>
            <a:r>
              <a:rPr sz="1600" b="1" i="0" u="none">
                <a:latin typeface="Arial" panose="020B0604020202020204"/>
              </a:rPr>
              <a:t>Модель данных:</a:t>
            </a:r>
            <a:endParaRPr sz="1600" b="1" i="0" u="none"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8000" y="1791970"/>
            <a:ext cx="4114800" cy="73723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algn="l"/>
            <a:r>
              <a:rPr sz="1400" b="0" i="0" u="none">
                <a:latin typeface="Arial" panose="020B0604020202020204"/>
              </a:rPr>
              <a:t>• Записи с типом и набором атрибутов</a:t>
            </a:r>
            <a:endParaRPr sz="1400" b="0" i="0" u="none">
              <a:latin typeface="Arial" panose="020B0604020202020204"/>
            </a:endParaRPr>
          </a:p>
          <a:p>
            <a:pPr algn="l"/>
            <a:r>
              <a:rPr sz="1400" b="0" i="0" u="none">
                <a:latin typeface="Arial" panose="020B0604020202020204"/>
              </a:rPr>
              <a:t>• До </a:t>
            </a:r>
            <a:r>
              <a:rPr lang="ru-RU" sz="1400" b="0" i="0" u="none">
                <a:latin typeface="Arial" panose="020B0604020202020204"/>
              </a:rPr>
              <a:t>5</a:t>
            </a:r>
            <a:r>
              <a:rPr sz="1400" b="0" i="0" u="none">
                <a:latin typeface="Arial" panose="020B0604020202020204"/>
              </a:rPr>
              <a:t>0 атрибутов на запись</a:t>
            </a:r>
            <a:endParaRPr sz="1400" b="0" i="0" u="none">
              <a:latin typeface="Arial" panose="020B0604020202020204"/>
            </a:endParaRPr>
          </a:p>
          <a:p>
            <a:pPr algn="l"/>
            <a:r>
              <a:rPr sz="1400" b="0" i="0" u="none">
                <a:latin typeface="Arial" panose="020B0604020202020204"/>
              </a:rPr>
              <a:t>• Динамическая схема</a:t>
            </a:r>
            <a:endParaRPr sz="1400" b="0" i="0" u="none">
              <a:latin typeface="Arial" panose="020B0604020202020204"/>
            </a:endParaRPr>
          </a:p>
        </p:txBody>
      </p:sp>
      <p:sp>
        <p:nvSpPr>
          <p:cNvPr id="3" name="Text Placeholder 1"/>
          <p:cNvSpPr>
            <a:spLocks noGrp="1"/>
          </p:cNvSpPr>
          <p:nvPr/>
        </p:nvSpPr>
        <p:spPr>
          <a:xfrm>
            <a:off x="507999" y="1792286"/>
            <a:ext cx="3635830" cy="1573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12" name="TextBox 11"/>
          <p:cNvSpPr txBox="1"/>
          <p:nvPr/>
        </p:nvSpPr>
        <p:spPr>
          <a:xfrm>
            <a:off x="508000" y="2751455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algn="l"/>
            <a:r>
              <a:rPr sz="1600" b="1" i="0" u="none">
                <a:latin typeface="Arial" panose="020B0604020202020204"/>
              </a:rPr>
              <a:t>Отказоустойчивость:</a:t>
            </a:r>
            <a:endParaRPr sz="1600" b="1" i="0" u="none"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8000" y="3194685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algn="l"/>
            <a:r>
              <a:rPr sz="1400" b="0" i="0" u="none">
                <a:latin typeface="Arial" panose="020B0604020202020204"/>
              </a:rPr>
              <a:t>• Репликация данных</a:t>
            </a:r>
            <a:endParaRPr sz="1400" b="0" i="0" u="none">
              <a:latin typeface="Arial" panose="020B0604020202020204"/>
            </a:endParaRPr>
          </a:p>
          <a:p>
            <a:pPr algn="l"/>
            <a:r>
              <a:rPr sz="1400" b="0" i="0" u="none">
                <a:latin typeface="Arial" panose="020B0604020202020204"/>
              </a:rPr>
              <a:t>• Работа при отказе ДЦ</a:t>
            </a:r>
            <a:endParaRPr sz="1400" b="0" i="0" u="none"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65600" y="1294765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algn="l"/>
            <a:r>
              <a:rPr sz="1600" b="1" i="0" u="none">
                <a:latin typeface="Arial" panose="020B0604020202020204"/>
              </a:rPr>
              <a:t>Производительность:</a:t>
            </a:r>
            <a:endParaRPr sz="1600" b="1" i="0" u="none"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83075" y="179197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algn="l"/>
            <a:r>
              <a:rPr sz="1400" b="0" i="0" u="none">
                <a:latin typeface="Arial" panose="020B0604020202020204"/>
              </a:rPr>
              <a:t>• Запись: 50-100 тыс. записей/сек</a:t>
            </a:r>
            <a:endParaRPr sz="1400" b="0" i="0" u="none">
              <a:latin typeface="Arial" panose="020B0604020202020204"/>
            </a:endParaRPr>
          </a:p>
          <a:p>
            <a:pPr algn="l"/>
            <a:r>
              <a:rPr sz="1400" b="0" i="0" u="none">
                <a:latin typeface="Arial" panose="020B0604020202020204"/>
              </a:rPr>
              <a:t>• Хранение: ≥ 1 месяц</a:t>
            </a:r>
            <a:endParaRPr sz="1400" b="0" i="0" u="none"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75150" y="2751455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algn="l"/>
            <a:r>
              <a:rPr sz="1600" b="1" i="0" u="none">
                <a:latin typeface="Arial" panose="020B0604020202020204"/>
              </a:rPr>
              <a:t>Запросы:</a:t>
            </a:r>
            <a:endParaRPr sz="1600" b="1" i="0" u="none"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5150" y="3194685"/>
            <a:ext cx="4114800" cy="10058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algn="l"/>
            <a:r>
              <a:rPr sz="1400" b="0" i="0" u="none">
                <a:latin typeface="Arial" panose="020B0604020202020204"/>
              </a:rPr>
              <a:t>• SQL-подобный синтаксис</a:t>
            </a:r>
            <a:endParaRPr sz="1400" b="0" i="0" u="none">
              <a:latin typeface="Arial" panose="020B0604020202020204"/>
            </a:endParaRPr>
          </a:p>
          <a:p>
            <a:pPr algn="l"/>
            <a:r>
              <a:rPr sz="1400" b="0" i="0" u="none">
                <a:latin typeface="Arial" panose="020B0604020202020204"/>
              </a:rPr>
              <a:t>• Фильтрация по любому атрибуту</a:t>
            </a:r>
            <a:endParaRPr sz="1400" b="0" i="0" u="none">
              <a:latin typeface="Arial" panose="020B0604020202020204"/>
            </a:endParaRPr>
          </a:p>
          <a:p>
            <a:pPr algn="l"/>
            <a:r>
              <a:rPr sz="1400" b="0" i="0" u="none">
                <a:latin typeface="Arial" panose="020B0604020202020204"/>
              </a:rPr>
              <a:t>• Агрегации: SUM, COUNT, MAX</a:t>
            </a:r>
            <a:endParaRPr sz="1400" b="0" i="0" u="none">
              <a:latin typeface="Arial" panose="020B0604020202020204"/>
            </a:endParaRPr>
          </a:p>
          <a:p>
            <a:pPr algn="l"/>
            <a:r>
              <a:rPr sz="1400" b="0" i="0" u="none">
                <a:latin typeface="Arial" panose="020B0604020202020204"/>
              </a:rPr>
              <a:t>• Сортировка</a:t>
            </a:r>
            <a:endParaRPr sz="1400" b="0" i="0" u="none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>
            <a:normAutofit fontScale="90000"/>
          </a:bodyPr>
          <a:lstStyle/>
          <a:p>
            <a:r>
              <a:rPr lang="ru-RU" b="0">
                <a:latin typeface="Arial Regular" panose="020B0604020202020204" charset="0"/>
                <a:cs typeface="Arial Regular" panose="020B0604020202020204" charset="0"/>
              </a:rPr>
              <a:t>Сравнительный анализ</a:t>
            </a:r>
            <a:endParaRPr lang="ru-RU" b="0">
              <a:latin typeface="Arial Regular" panose="020B0604020202020204" charset="0"/>
              <a:cs typeface="Arial Regular" panose="020B0604020202020204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8212455" y="4375785"/>
            <a:ext cx="5130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ru-RU" altLang="en-US">
                <a:sym typeface="+mn-ea"/>
              </a:rPr>
              <a:t>5/7</a:t>
            </a:r>
            <a:endParaRPr lang="en-US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1073785"/>
          <a:ext cx="82296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3540">
                <a:tc>
                  <a:txBody>
                    <a:bodyPr/>
                    <a:p>
                      <a:r>
                        <a:rPr sz="1400" b="1"/>
                        <a:t>Решение</a:t>
                      </a:r>
                      <a:endParaRPr sz="1400" b="1"/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p>
                      <a:r>
                        <a:rPr sz="1400" b="1"/>
                        <a:t>Результат</a:t>
                      </a:r>
                      <a:endParaRPr sz="1400" b="1"/>
                    </a:p>
                  </a:txBody>
                  <a:tcPr>
                    <a:solidFill>
                      <a:srgbClr val="4F81BD"/>
                    </a:solidFill>
                  </a:tcPr>
                </a:tc>
              </a:tr>
              <a:tr h="400050">
                <a:tc>
                  <a:txBody>
                    <a:bodyPr/>
                    <a:p>
                      <a:r>
                        <a:rPr sz="1400"/>
                        <a:t>PostgreSQL</a:t>
                      </a:r>
                      <a:endParaRPr sz="14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400">
                          <a:solidFill>
                            <a:srgbClr val="C0392B"/>
                          </a:solidFill>
                        </a:rPr>
                        <a:t>❌</a:t>
                      </a:r>
                      <a:r>
                        <a:rPr lang="ru-RU" sz="1400">
                          <a:solidFill>
                            <a:srgbClr val="C0392B"/>
                          </a:solidFill>
                        </a:rPr>
                        <a:t> О</a:t>
                      </a:r>
                      <a:r>
                        <a:rPr sz="1400">
                          <a:solidFill>
                            <a:srgbClr val="C0392B"/>
                          </a:solidFill>
                        </a:rPr>
                        <a:t>риентирован на OLT</a:t>
                      </a:r>
                      <a:r>
                        <a:rPr lang="en-US" sz="1400">
                          <a:solidFill>
                            <a:srgbClr val="C0392B"/>
                          </a:solidFill>
                        </a:rPr>
                        <a:t>P</a:t>
                      </a:r>
                      <a:endParaRPr lang="en-US" sz="1400">
                        <a:solidFill>
                          <a:srgbClr val="C0392B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00050">
                <a:tc>
                  <a:txBody>
                    <a:bodyPr/>
                    <a:p>
                      <a:r>
                        <a:rPr sz="1400"/>
                        <a:t>Elasticsearch</a:t>
                      </a:r>
                      <a:endParaRPr sz="14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400">
                          <a:solidFill>
                            <a:srgbClr val="C0392B"/>
                          </a:solidFill>
                        </a:rPr>
                        <a:t>❌ Дорогое хранение (слабое сжатие)</a:t>
                      </a:r>
                      <a:endParaRPr sz="1400">
                        <a:solidFill>
                          <a:srgbClr val="C0392B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00050">
                <a:tc>
                  <a:txBody>
                    <a:bodyPr/>
                    <a:p>
                      <a:r>
                        <a:rPr sz="1400"/>
                        <a:t>Apache Druid</a:t>
                      </a:r>
                      <a:endParaRPr sz="14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400">
                          <a:solidFill>
                            <a:srgbClr val="C0392B"/>
                          </a:solidFill>
                        </a:rPr>
                        <a:t>❌ Не поддерживает динамическую схему</a:t>
                      </a:r>
                      <a:endParaRPr sz="1400">
                        <a:solidFill>
                          <a:srgbClr val="C0392B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00050">
                <a:tc>
                  <a:txBody>
                    <a:bodyPr/>
                    <a:p>
                      <a:r>
                        <a:rPr sz="1400"/>
                        <a:t>TimescaleDB</a:t>
                      </a:r>
                      <a:endParaRPr sz="14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400">
                          <a:solidFill>
                            <a:schemeClr val="accent1"/>
                          </a:solidFill>
                          <a:sym typeface="+mn-ea"/>
                        </a:rPr>
                        <a:t>❌</a:t>
                      </a:r>
                      <a:r>
                        <a:rPr lang="ru-RU" sz="1400">
                          <a:solidFill>
                            <a:schemeClr val="accent1"/>
                          </a:solidFill>
                          <a:sym typeface="+mn-ea"/>
                        </a:rPr>
                        <a:t> </a:t>
                      </a:r>
                      <a:r>
                        <a:rPr lang="ru-RU" sz="1400">
                          <a:solidFill>
                            <a:schemeClr val="accent1"/>
                          </a:solidFill>
                        </a:rPr>
                        <a:t>Расширение </a:t>
                      </a:r>
                      <a:r>
                        <a:rPr lang="en-US" altLang="ru-RU" sz="1400">
                          <a:solidFill>
                            <a:schemeClr val="accent1"/>
                          </a:solidFill>
                        </a:rPr>
                        <a:t>postgres</a:t>
                      </a:r>
                      <a:endParaRPr lang="en-US" altLang="ru-RU" sz="140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00050">
                <a:tc>
                  <a:txBody>
                    <a:bodyPr/>
                    <a:p>
                      <a:r>
                        <a:rPr sz="1400"/>
                        <a:t>Apache Pinot</a:t>
                      </a:r>
                      <a:endParaRPr sz="14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400">
                          <a:solidFill>
                            <a:schemeClr val="accent1"/>
                          </a:solidFill>
                          <a:sym typeface="+mn-ea"/>
                        </a:rPr>
                        <a:t>❌</a:t>
                      </a:r>
                      <a:r>
                        <a:rPr sz="1400">
                          <a:solidFill>
                            <a:schemeClr val="accent1"/>
                          </a:solidFill>
                        </a:rPr>
                        <a:t>️ Сложная архитектура (ZooKeeper + Deep Storage)</a:t>
                      </a:r>
                      <a:endParaRPr sz="140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00050">
                <a:tc>
                  <a:txBody>
                    <a:bodyPr/>
                    <a:p>
                      <a:r>
                        <a:rPr sz="1400"/>
                        <a:t>Apache Doris</a:t>
                      </a:r>
                      <a:endParaRPr sz="14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400">
                          <a:solidFill>
                            <a:srgbClr val="27AE60"/>
                          </a:solidFill>
                        </a:rPr>
                        <a:t>✅ Подходит</a:t>
                      </a:r>
                      <a:endParaRPr sz="1400">
                        <a:solidFill>
                          <a:srgbClr val="27AE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00050">
                <a:tc>
                  <a:txBody>
                    <a:bodyPr/>
                    <a:p>
                      <a:r>
                        <a:rPr sz="1400" b="1"/>
                        <a:t>ClickHouse</a:t>
                      </a:r>
                      <a:endParaRPr sz="1400" b="1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400" b="1">
                          <a:solidFill>
                            <a:srgbClr val="27AE60"/>
                          </a:solidFill>
                        </a:rPr>
                        <a:t>✅ </a:t>
                      </a:r>
                      <a:r>
                        <a:rPr sz="1400">
                          <a:solidFill>
                            <a:srgbClr val="27AE60"/>
                          </a:solidFill>
                          <a:sym typeface="+mn-ea"/>
                        </a:rPr>
                        <a:t>Подходит</a:t>
                      </a:r>
                      <a:endParaRPr sz="1400" b="1">
                        <a:solidFill>
                          <a:srgbClr val="27AE6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0">
                <a:solidFill>
                  <a:schemeClr val="bg1"/>
                </a:solidFill>
                <a:latin typeface="Arial" panose="020B0604020202020204"/>
                <a:sym typeface="+mn-ea"/>
              </a:rPr>
              <a:t>Выбор хранилища и архитектура</a:t>
            </a:r>
            <a:endParaRPr lang="ru-RU" altLang="en-US" b="0">
              <a:solidFill>
                <a:schemeClr val="bg1"/>
              </a:solidFill>
              <a:latin typeface="Arial" panose="020B0604020202020204"/>
              <a:cs typeface="Arial Regular" panose="020B0604020202020204" charset="0"/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211185" y="4375150"/>
            <a:ext cx="5130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ru-RU" altLang="en-US">
                <a:sym typeface="+mn-ea"/>
              </a:rPr>
              <a:t>6/7</a:t>
            </a: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-3789680" y="1499235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 i="0" u="none">
                <a:latin typeface="Arial" panose="020B0604020202020204"/>
              </a:rPr>
              <a:t>Выполнено:</a:t>
            </a:r>
            <a:endParaRPr sz="1600" b="1" i="0" u="none"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3945890" y="1819275"/>
            <a:ext cx="4114800" cy="11887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 u="none">
                <a:solidFill>
                  <a:srgbClr val="27AE60"/>
                </a:solidFill>
                <a:latin typeface="Arial" panose="020B0604020202020204"/>
              </a:rPr>
              <a:t>✅ Сформулированы требования к хранилищу</a:t>
            </a:r>
            <a:endParaRPr sz="1400" b="0" i="0" u="none">
              <a:solidFill>
                <a:srgbClr val="27AE60"/>
              </a:solidFill>
              <a:latin typeface="Arial" panose="020B0604020202020204"/>
            </a:endParaRPr>
          </a:p>
          <a:p>
            <a:pPr algn="l"/>
            <a:r>
              <a:rPr sz="1400" b="0" i="0" u="none">
                <a:solidFill>
                  <a:srgbClr val="27AE60"/>
                </a:solidFill>
                <a:latin typeface="Arial" panose="020B0604020202020204"/>
              </a:rPr>
              <a:t>✅ Проанализировано 7 решений</a:t>
            </a:r>
            <a:endParaRPr sz="1400" b="0" i="0" u="none">
              <a:solidFill>
                <a:srgbClr val="27AE60"/>
              </a:solidFill>
              <a:latin typeface="Arial" panose="020B0604020202020204"/>
            </a:endParaRPr>
          </a:p>
          <a:p>
            <a:pPr algn="l"/>
            <a:r>
              <a:rPr sz="1400" b="0" i="0" u="none">
                <a:solidFill>
                  <a:srgbClr val="27AE60"/>
                </a:solidFill>
                <a:latin typeface="Arial" panose="020B0604020202020204"/>
              </a:rPr>
              <a:t>✅ Обоснован выбор ClickHouse</a:t>
            </a:r>
            <a:endParaRPr sz="1400" b="0" i="0" u="none">
              <a:solidFill>
                <a:srgbClr val="27AE60"/>
              </a:solidFill>
              <a:latin typeface="Arial" panose="020B0604020202020204"/>
            </a:endParaRPr>
          </a:p>
          <a:p>
            <a:pPr algn="l"/>
            <a:r>
              <a:rPr sz="1400" b="0" i="0" u="none">
                <a:solidFill>
                  <a:srgbClr val="27AE60"/>
                </a:solidFill>
                <a:latin typeface="Arial" panose="020B0604020202020204"/>
              </a:rPr>
              <a:t>✅ Определена схема хранения данных</a:t>
            </a:r>
            <a:endParaRPr sz="1400" b="0" i="0" u="none">
              <a:solidFill>
                <a:srgbClr val="27AE6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73480" y="71221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 i="0" u="none">
                <a:latin typeface="Arial" panose="020B0604020202020204"/>
              </a:rPr>
              <a:t>Ключевые решения:</a:t>
            </a:r>
            <a:endParaRPr sz="1600" b="1" i="0" u="none"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73480" y="6252845"/>
            <a:ext cx="8229600" cy="5219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 u="none">
                <a:latin typeface="Arial" panose="020B0604020202020204"/>
              </a:rPr>
              <a:t>• OLAP-хранилище: ClickHouse </a:t>
            </a:r>
            <a:endParaRPr sz="1400" b="0" i="0" u="none">
              <a:latin typeface="Arial" panose="020B0604020202020204"/>
            </a:endParaRPr>
          </a:p>
          <a:p>
            <a:pPr algn="l"/>
            <a:r>
              <a:rPr sz="1400" b="0" i="0" u="none">
                <a:latin typeface="Arial" panose="020B0604020202020204"/>
              </a:rPr>
              <a:t>• Буфер: Apache Kafka </a:t>
            </a:r>
            <a:endParaRPr sz="1400" b="0" i="0" u="none"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85470" y="1165225"/>
            <a:ext cx="3657600" cy="33077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algn="l"/>
            <a:r>
              <a:rPr sz="1100" b="0" i="0" u="none">
                <a:latin typeface="Courier New" panose="02070309020205020404"/>
              </a:rPr>
              <a:t>Антиспам-система</a:t>
            </a:r>
            <a:endParaRPr sz="1100" b="0" i="0" u="none">
              <a:latin typeface="Courier New" panose="02070309020205020404"/>
            </a:endParaRPr>
          </a:p>
          <a:p>
            <a:pPr algn="l"/>
            <a:r>
              <a:rPr sz="1100" b="0" i="0" u="none">
                <a:latin typeface="Courier New" panose="02070309020205020404"/>
              </a:rPr>
              <a:t>        │</a:t>
            </a:r>
            <a:endParaRPr sz="1100" b="0" i="0" u="none">
              <a:latin typeface="Courier New" panose="02070309020205020404"/>
            </a:endParaRPr>
          </a:p>
          <a:p>
            <a:pPr algn="l"/>
            <a:r>
              <a:rPr sz="1100" b="0" i="0" u="none">
                <a:latin typeface="Courier New" panose="02070309020205020404"/>
              </a:rPr>
              <a:t>        │ события </a:t>
            </a:r>
            <a:endParaRPr sz="1100" b="0" i="0" u="none">
              <a:latin typeface="Courier New" panose="02070309020205020404"/>
            </a:endParaRPr>
          </a:p>
          <a:p>
            <a:pPr algn="l"/>
            <a:r>
              <a:rPr sz="1100" b="0" i="0" u="none">
                <a:latin typeface="Courier New" panose="02070309020205020404"/>
              </a:rPr>
              <a:t> </a:t>
            </a:r>
            <a:r>
              <a:rPr lang="en-US" sz="1100" b="0" i="0" u="none">
                <a:latin typeface="Courier New" panose="02070309020205020404"/>
              </a:rPr>
              <a:t>       </a:t>
            </a:r>
            <a:r>
              <a:rPr sz="1100">
                <a:latin typeface="Courier New" panose="02070309020205020404"/>
                <a:sym typeface="+mn-ea"/>
              </a:rPr>
              <a:t>▼</a:t>
            </a:r>
            <a:r>
              <a:rPr sz="1100" b="0" i="0" u="none">
                <a:latin typeface="Courier New" panose="02070309020205020404"/>
              </a:rPr>
              <a:t>        </a:t>
            </a:r>
            <a:endParaRPr sz="1100" b="0" i="0" u="none">
              <a:latin typeface="Courier New" panose="02070309020205020404"/>
            </a:endParaRPr>
          </a:p>
          <a:p>
            <a:pPr algn="l"/>
            <a:r>
              <a:rPr sz="1100" b="0" i="0" u="none">
                <a:latin typeface="Courier New" panose="02070309020205020404"/>
              </a:rPr>
              <a:t>┌───────────────┐</a:t>
            </a:r>
            <a:endParaRPr sz="1100" b="0" i="0" u="none">
              <a:latin typeface="Courier New" panose="02070309020205020404"/>
            </a:endParaRPr>
          </a:p>
          <a:p>
            <a:pPr algn="l"/>
            <a:r>
              <a:rPr sz="1100" b="0" i="0" u="none">
                <a:latin typeface="Courier New" panose="02070309020205020404"/>
              </a:rPr>
              <a:t>│</a:t>
            </a:r>
            <a:r>
              <a:rPr lang="en-US" sz="1100" b="0" i="0" u="none">
                <a:latin typeface="Courier New" panose="02070309020205020404"/>
              </a:rPr>
              <a:t>Storage-service</a:t>
            </a:r>
            <a:r>
              <a:rPr sz="1100" b="0" i="0" u="none">
                <a:latin typeface="Courier New" panose="02070309020205020404"/>
              </a:rPr>
              <a:t>│</a:t>
            </a:r>
            <a:endParaRPr sz="1100" b="0" i="0" u="none">
              <a:latin typeface="Courier New" panose="02070309020205020404"/>
            </a:endParaRPr>
          </a:p>
          <a:p>
            <a:pPr algn="l"/>
            <a:r>
              <a:rPr sz="1100" b="0" i="0" u="none">
                <a:latin typeface="Courier New" panose="02070309020205020404"/>
              </a:rPr>
              <a:t>└───────┬───────┘</a:t>
            </a:r>
            <a:endParaRPr sz="1100" b="0" i="0" u="none">
              <a:latin typeface="Courier New" panose="02070309020205020404"/>
            </a:endParaRPr>
          </a:p>
          <a:p>
            <a:pPr algn="l"/>
            <a:r>
              <a:rPr sz="1100" b="0" i="0" u="none">
                <a:latin typeface="Courier New" panose="02070309020205020404"/>
              </a:rPr>
              <a:t>        │</a:t>
            </a:r>
            <a:endParaRPr sz="1100" b="0" i="0" u="none">
              <a:latin typeface="Courier New" panose="02070309020205020404"/>
            </a:endParaRPr>
          </a:p>
          <a:p>
            <a:pPr algn="l"/>
            <a:r>
              <a:rPr sz="1100" b="0" i="0" u="none">
                <a:latin typeface="Courier New" panose="02070309020205020404"/>
              </a:rPr>
              <a:t>        ▼</a:t>
            </a:r>
            <a:endParaRPr sz="1100" b="0" i="0" u="none">
              <a:latin typeface="Courier New" panose="02070309020205020404"/>
            </a:endParaRPr>
          </a:p>
          <a:p>
            <a:pPr algn="l"/>
            <a:r>
              <a:rPr sz="1100" b="0" i="0" u="none">
                <a:latin typeface="Courier New" panose="02070309020205020404"/>
              </a:rPr>
              <a:t>┌───────────────┐</a:t>
            </a:r>
            <a:endParaRPr sz="1100" b="0" i="0" u="none">
              <a:latin typeface="Courier New" panose="02070309020205020404"/>
            </a:endParaRPr>
          </a:p>
          <a:p>
            <a:pPr algn="l"/>
            <a:r>
              <a:rPr sz="1100" b="0" i="0" u="none">
                <a:latin typeface="Courier New" panose="02070309020205020404"/>
              </a:rPr>
              <a:t>│ Apache Kafka  │</a:t>
            </a:r>
            <a:endParaRPr sz="1100" b="0" i="0" u="none">
              <a:latin typeface="Courier New" panose="02070309020205020404"/>
            </a:endParaRPr>
          </a:p>
          <a:p>
            <a:pPr algn="l"/>
            <a:r>
              <a:rPr sz="1100" b="0" i="0" u="none">
                <a:latin typeface="Courier New" panose="02070309020205020404"/>
              </a:rPr>
              <a:t>│    (буфер)    │</a:t>
            </a:r>
            <a:endParaRPr sz="1100" b="0" i="0" u="none">
              <a:latin typeface="Courier New" panose="02070309020205020404"/>
            </a:endParaRPr>
          </a:p>
          <a:p>
            <a:pPr algn="l"/>
            <a:r>
              <a:rPr sz="1100" b="0" i="0" u="none">
                <a:latin typeface="Courier New" panose="02070309020205020404"/>
              </a:rPr>
              <a:t>└───────┬───────┘</a:t>
            </a:r>
            <a:endParaRPr sz="1100" b="0" i="0" u="none">
              <a:latin typeface="Courier New" panose="02070309020205020404"/>
            </a:endParaRPr>
          </a:p>
          <a:p>
            <a:pPr algn="l"/>
            <a:r>
              <a:rPr sz="1100" b="0" i="0" u="none">
                <a:latin typeface="Courier New" panose="02070309020205020404"/>
              </a:rPr>
              <a:t>        │ </a:t>
            </a:r>
            <a:endParaRPr sz="1100" b="0" i="0" u="none">
              <a:latin typeface="Courier New" panose="02070309020205020404"/>
            </a:endParaRPr>
          </a:p>
          <a:p>
            <a:pPr algn="l"/>
            <a:r>
              <a:rPr sz="1100" b="0" i="0" u="none">
                <a:latin typeface="Courier New" panose="02070309020205020404"/>
              </a:rPr>
              <a:t>        ▼</a:t>
            </a:r>
            <a:endParaRPr sz="1100" b="0" i="0" u="none">
              <a:latin typeface="Courier New" panose="02070309020205020404"/>
            </a:endParaRPr>
          </a:p>
          <a:p>
            <a:pPr algn="l"/>
            <a:r>
              <a:rPr sz="1100" b="0" i="0" u="none">
                <a:latin typeface="Courier New" panose="02070309020205020404"/>
              </a:rPr>
              <a:t>┌───────────────┐</a:t>
            </a:r>
            <a:endParaRPr sz="1100" b="0" i="0" u="none">
              <a:latin typeface="Courier New" panose="02070309020205020404"/>
            </a:endParaRPr>
          </a:p>
          <a:p>
            <a:pPr algn="l"/>
            <a:r>
              <a:rPr sz="1100" b="0" i="0" u="none">
                <a:latin typeface="Courier New" panose="02070309020205020404"/>
              </a:rPr>
              <a:t>│  ClickHouse   │◀── Query API ◀── </a:t>
            </a:r>
            <a:endParaRPr sz="1100" b="0" i="0" u="none">
              <a:latin typeface="Courier New" panose="02070309020205020404"/>
            </a:endParaRPr>
          </a:p>
          <a:p>
            <a:pPr algn="l"/>
            <a:r>
              <a:rPr sz="1100" b="0" i="0" u="none">
                <a:latin typeface="Courier New" panose="02070309020205020404"/>
              </a:rPr>
              <a:t>│    </a:t>
            </a:r>
            <a:r>
              <a:rPr lang="ru-RU" sz="1100" b="0" i="0" u="none">
                <a:latin typeface="Courier New" panose="02070309020205020404"/>
              </a:rPr>
              <a:t>			</a:t>
            </a:r>
            <a:r>
              <a:rPr sz="1100" b="0" i="0" u="none">
                <a:latin typeface="Courier New" panose="02070309020205020404"/>
              </a:rPr>
              <a:t>│</a:t>
            </a:r>
            <a:endParaRPr sz="1100" b="0" i="0" u="none">
              <a:latin typeface="Courier New" panose="02070309020205020404"/>
            </a:endParaRPr>
          </a:p>
          <a:p>
            <a:pPr algn="l"/>
            <a:r>
              <a:rPr sz="1100" b="0" i="0" u="none">
                <a:latin typeface="Courier New" panose="02070309020205020404"/>
              </a:rPr>
              <a:t>└───────────────┘</a:t>
            </a:r>
            <a:endParaRPr sz="1100" b="0" i="0" u="none">
              <a:latin typeface="Courier New" panose="02070309020205020404"/>
            </a:endParaRPr>
          </a:p>
        </p:txBody>
      </p:sp>
      <p:sp>
        <p:nvSpPr>
          <p:cNvPr id="3" name="TextBox 8"/>
          <p:cNvSpPr txBox="1"/>
          <p:nvPr/>
        </p:nvSpPr>
        <p:spPr>
          <a:xfrm>
            <a:off x="4572000" y="1405255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algn="l"/>
            <a:r>
              <a:rPr sz="1600" b="1" i="0" u="none">
                <a:latin typeface="Arial" panose="020B0604020202020204"/>
              </a:rPr>
              <a:t>Почему ClickHouse:</a:t>
            </a:r>
            <a:endParaRPr sz="1600" b="1" i="0" u="none">
              <a:latin typeface="Arial" panose="020B0604020202020204"/>
            </a:endParaRPr>
          </a:p>
        </p:txBody>
      </p:sp>
      <p:sp>
        <p:nvSpPr>
          <p:cNvPr id="7" name="TextBox 9"/>
          <p:cNvSpPr txBox="1"/>
          <p:nvPr/>
        </p:nvSpPr>
        <p:spPr>
          <a:xfrm>
            <a:off x="4572000" y="1811655"/>
            <a:ext cx="4114800" cy="95313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algn="l"/>
            <a:r>
              <a:rPr sz="1400" b="0" i="0" u="none">
                <a:latin typeface="Arial" panose="020B0604020202020204"/>
              </a:rPr>
              <a:t>• Запись: 1-2 млн/сек (запас 10-20x)</a:t>
            </a:r>
            <a:endParaRPr sz="1400" b="0" i="0" u="none">
              <a:latin typeface="Arial" panose="020B0604020202020204"/>
            </a:endParaRPr>
          </a:p>
          <a:p>
            <a:pPr algn="l"/>
            <a:r>
              <a:rPr sz="1400" b="0" i="0" u="none">
                <a:latin typeface="Arial" panose="020B0604020202020204"/>
              </a:rPr>
              <a:t>• Сжатие данных: до 40x</a:t>
            </a:r>
            <a:endParaRPr sz="1400" b="0" i="0" u="none">
              <a:latin typeface="Arial" panose="020B0604020202020204"/>
            </a:endParaRPr>
          </a:p>
          <a:p>
            <a:pPr algn="l"/>
            <a:r>
              <a:rPr sz="1400" b="0" i="0" u="none">
                <a:latin typeface="Arial" panose="020B0604020202020204"/>
              </a:rPr>
              <a:t>• UPDATE/DELETE не требуется (события неизменяемы)</a:t>
            </a:r>
            <a:endParaRPr sz="1400" b="0" i="0" u="none"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0" y="2995295"/>
            <a:ext cx="4114800" cy="33718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algn="l"/>
            <a:r>
              <a:rPr sz="1600" b="1" i="0" u="none">
                <a:latin typeface="Arial" panose="020B0604020202020204"/>
              </a:rPr>
              <a:t>Kafka</a:t>
            </a:r>
            <a:r>
              <a:rPr lang="ru-RU" sz="1600" b="1" i="0" u="none">
                <a:latin typeface="Arial" panose="020B0604020202020204"/>
              </a:rPr>
              <a:t> как </a:t>
            </a:r>
            <a:r>
              <a:rPr lang="en-US" altLang="ru-RU" sz="1600" b="1" i="0" u="none">
                <a:latin typeface="Arial" panose="020B0604020202020204"/>
              </a:rPr>
              <a:t>OLTP </a:t>
            </a:r>
            <a:r>
              <a:rPr lang="ru-RU" altLang="en-US" sz="1600" b="1" i="0" u="none">
                <a:latin typeface="Arial" panose="020B0604020202020204"/>
              </a:rPr>
              <a:t>контур</a:t>
            </a:r>
            <a:r>
              <a:rPr sz="1600" b="1" i="0" u="none">
                <a:latin typeface="Arial" panose="020B0604020202020204"/>
              </a:rPr>
              <a:t>:</a:t>
            </a:r>
            <a:endParaRPr sz="1600" b="1" i="0" u="none"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0" y="3388360"/>
            <a:ext cx="411480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algn="l"/>
            <a:r>
              <a:rPr sz="1400" b="0" i="0" u="none">
                <a:latin typeface="Arial" panose="020B0604020202020204"/>
              </a:rPr>
              <a:t>• Гарантия доставки событий</a:t>
            </a:r>
            <a:endParaRPr sz="1400" b="0" i="0" u="none">
              <a:latin typeface="Arial" panose="020B0604020202020204"/>
            </a:endParaRPr>
          </a:p>
          <a:p>
            <a:pPr algn="l"/>
            <a:r>
              <a:rPr sz="1400" b="0" i="0" u="none">
                <a:latin typeface="Arial" panose="020B0604020202020204"/>
              </a:rPr>
              <a:t>• Буфер при недоступности ClickHouse</a:t>
            </a:r>
            <a:endParaRPr sz="1400" b="0" i="0" u="none">
              <a:latin typeface="Arial" panose="020B0604020202020204"/>
            </a:endParaRPr>
          </a:p>
          <a:p>
            <a:pPr algn="l"/>
            <a:r>
              <a:rPr sz="1400" b="0" i="0" u="none">
                <a:latin typeface="Arial" panose="020B0604020202020204"/>
              </a:rPr>
              <a:t>• Возможность replay при сбоях</a:t>
            </a:r>
            <a:endParaRPr sz="1400" b="0" i="0" u="none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en-US" b="0">
                <a:latin typeface="Arial Regular" panose="020B0604020202020204" charset="0"/>
                <a:cs typeface="Arial Regular" panose="020B0604020202020204" charset="0"/>
              </a:rPr>
              <a:t>Что достигнуто с прошлой версии?</a:t>
            </a:r>
            <a:endParaRPr lang="ru-RU" altLang="en-US" b="0">
              <a:latin typeface="Arial Regular" panose="020B0604020202020204" charset="0"/>
              <a:cs typeface="Arial Regular" panose="020B06040202020202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211185" y="4375150"/>
            <a:ext cx="5130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ru-RU" altLang="en-US">
                <a:sym typeface="+mn-ea"/>
              </a:rPr>
              <a:t>7/7</a:t>
            </a: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68960" y="1360170"/>
            <a:ext cx="4114800" cy="3683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b="1" i="0" u="none">
                <a:latin typeface="Arial" panose="020B0604020202020204"/>
              </a:rPr>
              <a:t>Выполнено:</a:t>
            </a:r>
            <a:endParaRPr b="1" i="0" u="none"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6890" y="1767840"/>
            <a:ext cx="6050280" cy="1938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 u="none">
                <a:solidFill>
                  <a:schemeClr val="tx1"/>
                </a:solidFill>
                <a:latin typeface="Arial" panose="020B0604020202020204"/>
              </a:rPr>
              <a:t>- Сформулированы требования к системе</a:t>
            </a:r>
            <a:endParaRPr sz="1600" b="0" i="0" u="none">
              <a:solidFill>
                <a:schemeClr val="tx1"/>
              </a:solidFill>
              <a:latin typeface="Arial" panose="020B0604020202020204"/>
            </a:endParaRPr>
          </a:p>
          <a:p>
            <a:pPr algn="l">
              <a:lnSpc>
                <a:spcPct val="150000"/>
              </a:lnSpc>
            </a:pPr>
            <a:r>
              <a:rPr sz="1600" b="0" i="0" u="none">
                <a:solidFill>
                  <a:schemeClr val="tx1"/>
                </a:solidFill>
                <a:latin typeface="Arial" panose="020B0604020202020204"/>
              </a:rPr>
              <a:t>- Проанализировано 7 решений для хранения событий</a:t>
            </a:r>
            <a:endParaRPr sz="1600" b="0" i="0" u="none">
              <a:solidFill>
                <a:schemeClr val="tx1"/>
              </a:solidFill>
              <a:latin typeface="Arial" panose="020B0604020202020204"/>
            </a:endParaRPr>
          </a:p>
          <a:p>
            <a:pPr algn="l">
              <a:lnSpc>
                <a:spcPct val="150000"/>
              </a:lnSpc>
            </a:pPr>
            <a:r>
              <a:rPr sz="1600" b="0" i="0" u="none">
                <a:solidFill>
                  <a:schemeClr val="tx1"/>
                </a:solidFill>
                <a:latin typeface="Arial" panose="020B0604020202020204"/>
              </a:rPr>
              <a:t>- Выбран стек: ClickHouse + Kafka</a:t>
            </a:r>
            <a:endParaRPr sz="1600" b="0" i="0" u="none">
              <a:solidFill>
                <a:schemeClr val="tx1"/>
              </a:solidFill>
              <a:latin typeface="Arial" panose="020B0604020202020204"/>
            </a:endParaRPr>
          </a:p>
          <a:p>
            <a:pPr algn="l">
              <a:lnSpc>
                <a:spcPct val="150000"/>
              </a:lnSpc>
            </a:pPr>
            <a:r>
              <a:rPr sz="1600" b="0" i="0" u="none">
                <a:solidFill>
                  <a:schemeClr val="tx1"/>
                </a:solidFill>
                <a:latin typeface="Arial" panose="020B0604020202020204"/>
              </a:rPr>
              <a:t>- Спроектирована архитектура</a:t>
            </a:r>
            <a:endParaRPr sz="1600" b="0" i="0" u="none">
              <a:solidFill>
                <a:schemeClr val="tx1"/>
              </a:solidFill>
              <a:latin typeface="Arial" panose="020B0604020202020204"/>
            </a:endParaRPr>
          </a:p>
          <a:p>
            <a:pPr algn="l">
              <a:lnSpc>
                <a:spcPct val="150000"/>
              </a:lnSpc>
            </a:pPr>
            <a:r>
              <a:rPr lang="ru-RU" sz="1600" b="0" i="0" u="none">
                <a:solidFill>
                  <a:schemeClr val="tx1"/>
                </a:solidFill>
                <a:latin typeface="Arial" panose="020B0604020202020204"/>
              </a:rPr>
              <a:t>- Начата разработка прототипа</a:t>
            </a:r>
            <a:endParaRPr lang="ru-RU" sz="1600" b="0" i="0" u="none">
              <a:solidFill>
                <a:schemeClr val="tx1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2589</Words>
  <Application>WPS Writer</Application>
  <PresentationFormat>Экран (16:9)</PresentationFormat>
  <Paragraphs>164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7" baseType="lpstr">
      <vt:lpstr>Arial</vt:lpstr>
      <vt:lpstr>SimSun</vt:lpstr>
      <vt:lpstr>Wingdings</vt:lpstr>
      <vt:lpstr>ALS Gorizont Bold Expanded</vt:lpstr>
      <vt:lpstr>苹方-简</vt:lpstr>
      <vt:lpstr>Golos Text</vt:lpstr>
      <vt:lpstr>冬青黑体简体中文</vt:lpstr>
      <vt:lpstr>Arial</vt:lpstr>
      <vt:lpstr>Golos Text DemiBold</vt:lpstr>
      <vt:lpstr>Golos Text</vt:lpstr>
      <vt:lpstr>Arial Regular</vt:lpstr>
      <vt:lpstr>Courier New</vt:lpstr>
      <vt:lpstr>Calibri</vt:lpstr>
      <vt:lpstr>Helvetica Neue</vt:lpstr>
      <vt:lpstr>Microsoft YaHei</vt:lpstr>
      <vt:lpstr>汉仪旗黑</vt:lpstr>
      <vt:lpstr>Arial Unicode MS</vt:lpstr>
      <vt:lpstr>宋体-简</vt:lpstr>
      <vt:lpstr>Apple Color Emoji</vt:lpstr>
      <vt:lpstr>Тема1</vt:lpstr>
      <vt:lpstr>Проектирование и реализация высоконагруженного событийного хранилища для антиспам-системы.</vt:lpstr>
      <vt:lpstr>Проблема</vt:lpstr>
      <vt:lpstr>Цель и задачи</vt:lpstr>
      <vt:lpstr>Требования к системе</vt:lpstr>
      <vt:lpstr>Сравнительный анализ</vt:lpstr>
      <vt:lpstr>Выбор хранилища и архитектура</vt:lpstr>
      <vt:lpstr>Что достигнуто с прошлой версии?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</dc:creator>
  <cp:lastModifiedBy>PROGRAM MAX</cp:lastModifiedBy>
  <cp:revision>126</cp:revision>
  <dcterms:created xsi:type="dcterms:W3CDTF">2025-12-19T08:33:32Z</dcterms:created>
  <dcterms:modified xsi:type="dcterms:W3CDTF">2025-12-19T08:33:32Z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1033-4.6.0.7728</vt:lpwstr>
  </property>
</Properties>
</file>